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4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4" r:id="rId2"/>
    <p:sldId id="265" r:id="rId3"/>
    <p:sldId id="266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171E"/>
    <a:srgbClr val="006600"/>
    <a:srgbClr val="FF9900"/>
    <a:srgbClr val="1B21CC"/>
    <a:srgbClr val="F0788C"/>
    <a:srgbClr val="65D2E6"/>
    <a:srgbClr val="F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57" autoAdjust="0"/>
  </p:normalViewPr>
  <p:slideViewPr>
    <p:cSldViewPr snapToGrid="0">
      <p:cViewPr varScale="1">
        <p:scale>
          <a:sx n="106" d="100"/>
          <a:sy n="106" d="100"/>
        </p:scale>
        <p:origin x="3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65D2E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627-4F68-8AE1-4935A080C3A0}"/>
              </c:ext>
            </c:extLst>
          </c:dPt>
          <c:dPt>
            <c:idx val="1"/>
            <c:bubble3D val="0"/>
            <c:spPr>
              <a:solidFill>
                <a:srgbClr val="F078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627-4F68-8AE1-4935A080C3A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0.35</c:v>
                </c:pt>
                <c:pt idx="1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27-4F68-8AE1-4935A080C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Upper 1</c:v>
                </c:pt>
                <c:pt idx="1">
                  <c:v>Upper 2</c:v>
                </c:pt>
                <c:pt idx="2">
                  <c:v>Middle 1</c:v>
                </c:pt>
                <c:pt idx="3">
                  <c:v>Middle 2</c:v>
                </c:pt>
                <c:pt idx="4">
                  <c:v>Lower 1</c:v>
                </c:pt>
                <c:pt idx="5">
                  <c:v>Lower 2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0.1</c:v>
                </c:pt>
                <c:pt idx="1">
                  <c:v>0.2</c:v>
                </c:pt>
                <c:pt idx="2">
                  <c:v>0.1</c:v>
                </c:pt>
                <c:pt idx="3">
                  <c:v>0.3</c:v>
                </c:pt>
                <c:pt idx="4">
                  <c:v>0.1</c:v>
                </c:pt>
                <c:pt idx="5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8A-4751-8BA9-B0E3CA519B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18 - 30 tahun</c:v>
                </c:pt>
                <c:pt idx="1">
                  <c:v>31 - 40 tahun</c:v>
                </c:pt>
                <c:pt idx="2">
                  <c:v>41 - 50 tahun</c:v>
                </c:pt>
                <c:pt idx="3">
                  <c:v>51 - 60 tahun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0.15</c:v>
                </c:pt>
                <c:pt idx="1">
                  <c:v>0.5</c:v>
                </c:pt>
                <c:pt idx="2">
                  <c:v>0.1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8A-4751-8BA9-B0E3CA519B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Tangerang - Merak</c:v>
                </c:pt>
                <c:pt idx="1">
                  <c:v>Cikopo - Palimanan</c:v>
                </c:pt>
                <c:pt idx="2">
                  <c:v>Jombang - Mojokerto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0.25</c:v>
                </c:pt>
                <c:pt idx="1">
                  <c:v>0.25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8B-4486-A4B4-0103167246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Golongan 1 Pribadi</c:v>
                </c:pt>
                <c:pt idx="1">
                  <c:v>Golongan 1 Umum</c:v>
                </c:pt>
                <c:pt idx="2">
                  <c:v>Golongan 2</c:v>
                </c:pt>
                <c:pt idx="3">
                  <c:v>Golongan 3</c:v>
                </c:pt>
                <c:pt idx="4">
                  <c:v>Golongan 4</c:v>
                </c:pt>
                <c:pt idx="5">
                  <c:v>Golongan 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</c:v>
                </c:pt>
                <c:pt idx="1">
                  <c:v>0.15</c:v>
                </c:pt>
                <c:pt idx="2">
                  <c:v>0.3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D-4552-987B-82F562EDF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Golongan 1 Pribadi</c:v>
                </c:pt>
                <c:pt idx="1">
                  <c:v>Golongan 1 Umum</c:v>
                </c:pt>
                <c:pt idx="2">
                  <c:v>Golongan 2</c:v>
                </c:pt>
                <c:pt idx="3">
                  <c:v>Golongan 3</c:v>
                </c:pt>
                <c:pt idx="4">
                  <c:v>Golongan 4</c:v>
                </c:pt>
                <c:pt idx="5">
                  <c:v>Golongan 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</c:v>
                </c:pt>
                <c:pt idx="1">
                  <c:v>0.15</c:v>
                </c:pt>
                <c:pt idx="2">
                  <c:v>0.3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D-4552-987B-82F562EDF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Golongan 1 Pribadi</c:v>
                </c:pt>
                <c:pt idx="1">
                  <c:v>Golongan 1 Umum</c:v>
                </c:pt>
                <c:pt idx="2">
                  <c:v>Golongan 2</c:v>
                </c:pt>
                <c:pt idx="3">
                  <c:v>Golongan 3</c:v>
                </c:pt>
                <c:pt idx="4">
                  <c:v>Golongan 4</c:v>
                </c:pt>
                <c:pt idx="5">
                  <c:v>Golongan 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</c:v>
                </c:pt>
                <c:pt idx="1">
                  <c:v>0.15</c:v>
                </c:pt>
                <c:pt idx="2">
                  <c:v>0.3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D-4552-987B-82F562EDF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Golongan 1 Pribadi</c:v>
                </c:pt>
                <c:pt idx="1">
                  <c:v>Golongan 1 Umum</c:v>
                </c:pt>
                <c:pt idx="2">
                  <c:v>Golongan 2</c:v>
                </c:pt>
                <c:pt idx="3">
                  <c:v>Golongan 3</c:v>
                </c:pt>
                <c:pt idx="4">
                  <c:v>Golongan 4</c:v>
                </c:pt>
                <c:pt idx="5">
                  <c:v>Golongan 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</c:v>
                </c:pt>
                <c:pt idx="1">
                  <c:v>0.15</c:v>
                </c:pt>
                <c:pt idx="2">
                  <c:v>0.3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D-4552-987B-82F562EDF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Golongan 1 Pribadi</c:v>
                </c:pt>
                <c:pt idx="1">
                  <c:v>Golongan 1 Umum</c:v>
                </c:pt>
                <c:pt idx="2">
                  <c:v>Golongan 2</c:v>
                </c:pt>
                <c:pt idx="3">
                  <c:v>Golongan 3</c:v>
                </c:pt>
                <c:pt idx="4">
                  <c:v>Golongan 4</c:v>
                </c:pt>
                <c:pt idx="5">
                  <c:v>Golongan 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</c:v>
                </c:pt>
                <c:pt idx="1">
                  <c:v>0.15</c:v>
                </c:pt>
                <c:pt idx="2">
                  <c:v>0.3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D-4552-987B-82F562EDF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Golongan 1 Pribadi</c:v>
                </c:pt>
                <c:pt idx="1">
                  <c:v>Golongan 1 Umum</c:v>
                </c:pt>
                <c:pt idx="2">
                  <c:v>Golongan 2</c:v>
                </c:pt>
                <c:pt idx="3">
                  <c:v>Golongan 3</c:v>
                </c:pt>
                <c:pt idx="4">
                  <c:v>Golongan 4</c:v>
                </c:pt>
                <c:pt idx="5">
                  <c:v>Golongan 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</c:v>
                </c:pt>
                <c:pt idx="1">
                  <c:v>0.15</c:v>
                </c:pt>
                <c:pt idx="2">
                  <c:v>0.3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D-4552-987B-82F562EDF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Golongan 1 Pribadi</c:v>
                </c:pt>
                <c:pt idx="1">
                  <c:v>Golongan 1 Umum</c:v>
                </c:pt>
                <c:pt idx="2">
                  <c:v>Golongan 2</c:v>
                </c:pt>
                <c:pt idx="3">
                  <c:v>Golongan 3</c:v>
                </c:pt>
                <c:pt idx="4">
                  <c:v>Golongan 4</c:v>
                </c:pt>
                <c:pt idx="5">
                  <c:v>Golongan 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</c:v>
                </c:pt>
                <c:pt idx="1">
                  <c:v>0.15</c:v>
                </c:pt>
                <c:pt idx="2">
                  <c:v>0.3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D-4552-987B-82F562EDF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Golongan 1 Pribadi</c:v>
                </c:pt>
                <c:pt idx="1">
                  <c:v>Golongan 1 Umum</c:v>
                </c:pt>
                <c:pt idx="2">
                  <c:v>Golongan 2</c:v>
                </c:pt>
                <c:pt idx="3">
                  <c:v>Golongan 3</c:v>
                </c:pt>
                <c:pt idx="4">
                  <c:v>Golongan 4</c:v>
                </c:pt>
                <c:pt idx="5">
                  <c:v>Golongan 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</c:v>
                </c:pt>
                <c:pt idx="1">
                  <c:v>0.15</c:v>
                </c:pt>
                <c:pt idx="2">
                  <c:v>0.3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D-4552-987B-82F562EDF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1390256"/>
        <c:axId val="1191398896"/>
      </c:barChart>
      <c:catAx>
        <c:axId val="119139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191398896"/>
        <c:crosses val="autoZero"/>
        <c:auto val="1"/>
        <c:lblAlgn val="ctr"/>
        <c:lblOffset val="100"/>
        <c:noMultiLvlLbl val="0"/>
      </c:catAx>
      <c:valAx>
        <c:axId val="11913988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191390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A954E-014F-4A76-825C-65CF5D36A1B6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04D3D2-D2BA-4028-B320-8DB1B68981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227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5707A-1ADF-8BA6-42D8-A46E380C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AECC6-B7EC-A32B-4E19-93F722CFA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EC2A2-984D-C613-24A5-EA7BF3094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8389C-5136-8C67-39EB-B929BFF73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4D3D2-D2BA-4028-B320-8DB1B68981E6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6842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4BCC-0EFE-2794-2FCB-A503A534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EA6A1-5B14-D847-1359-B2A2D7F3D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BC093-4FCA-C1F3-C0A7-6E4AEAC5D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FAF7A-219A-FC47-1721-6CC3FEB1E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4D3D2-D2BA-4028-B320-8DB1B68981E6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9508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9BE4-60D5-CED4-0F9F-317BAD0C7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25B23-695B-E61B-2233-1093FE7F2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B4D0A-E61E-530E-9D84-ABB6E1FD0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3BCB8-61B6-1587-488D-C2C60A2B9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4D3D2-D2BA-4028-B320-8DB1B68981E6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3905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190A-3EC5-CB50-40C1-6AF0E9CB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CFB81-BABB-809C-83A7-EFC191627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0ABCD-203E-A5B7-BC69-5C575C267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48049-4631-0A99-87D0-2C2896B94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4D3D2-D2BA-4028-B320-8DB1B68981E6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4974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A6A7-4051-2090-EAAF-689B6F13E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44A61B-F2D5-BA5A-CF5D-C476F1ABD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1D036-217C-DDF6-9909-4860DABF2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77727-E615-9075-142F-13BFAB99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A9691-EBAF-D177-031C-41638EE9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966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5561-FD35-A8C1-0C80-33F52185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EE3A6-FC60-9C69-A15A-6B92677DD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ADE16-2CE2-702D-56BC-A967A4A5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BAC99-C2E6-56AA-844E-77201A38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C4D9D-65D6-FA18-C6EF-BFFFED22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04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2482-05AA-783E-D241-09366AF9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67051-7405-F959-B548-1212980BF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719C1-1B04-CEC7-DC4F-6A86187EC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167D2-C014-4778-9462-4C884C92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8A207-5FEB-BDFD-EB61-54C34A61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089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FA67-7C54-95DE-FFBC-687CE0D8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A11DF-32AF-3481-7BD4-37D0BCB05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42704-305F-9C0C-6ACC-72FE1004B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DC629-A4D2-1F85-B99A-D25AEDFC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DE410-366F-FAE7-F275-F899BD81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C2A6A-B237-3C6B-298B-15C75B0F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395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011A-D735-D9C9-4BB0-83933575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F0D54-FFAC-CC1E-D084-831FFE24C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626D6-7AB4-35C3-658B-6F890AB21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AF3F7-1D18-4E41-0FF6-23A735584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658D9-9684-070F-4180-070ED28FD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DE4EC8-9D42-5FCA-7641-84DF6641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68882-4647-027D-22F2-8770CEC93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6FCA6-6584-FB96-94F4-82DBE753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84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5C4E-63BE-299E-91ED-FED4B40BE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71C34-BD1A-3A76-C63B-843E6C14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34732-A3ED-FAFA-BE62-D690138E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C9690-213C-E971-A5E5-69A42922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883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744FD8-831A-3EDB-B963-29DB1ECE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7E6ECC-3509-F6C7-63F0-BB638DCB2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7ACA2-BEB9-2A5B-3DD4-F8AC6700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546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69E9-7172-42A6-6E71-0BBF9324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F7693-97ED-EB9E-59F6-83AAD51E6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9D0AA-E8CE-0F0A-C60F-1F6B7F1E7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2477E-2556-E6D0-A6AE-DAE865A5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73F71-1A59-CFE6-2AA2-CA7A8825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4990E-9640-44A7-0062-884F381A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384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A9F39-8494-AD88-4C66-CC920634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07A022-E53A-D364-1921-7E1F39F32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3E0EA-E2C3-C4B9-3DB6-30B26F674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99111-2893-ABB3-4FE0-A336C072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4AC8A-4983-4496-DE67-5D50A25C3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51E79-8A46-AE6D-1026-7406819A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075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8E5D-69F8-14D2-5B55-EDAEF431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2B716-E3DF-4304-6235-0B10FC9B0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23360-2989-610C-95CA-8A70DEC4B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661ED-F268-78AB-E5CD-92998129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077F-A35A-2143-FB33-163BD6FE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029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AC25E-47E8-8078-DADB-37140B6DC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0FEE3-A817-0FC7-FF14-990C17E99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72A32-39E1-BA8C-2435-0F7A03C3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093E0-D0A2-0999-B668-A1D638CDC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81766-54FA-BE07-6241-31396FA7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067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D2EFF-7CF1-AA08-1B44-C8579B04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1C1D9-975F-A7C6-835A-F7D4276ED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C8B59-B9F8-EDB7-17A2-B040BF078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C66A3-489F-4032-A490-D67918D33898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B7CD9-9871-6F76-48F7-368EF5F90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A26E3-25CD-9ED8-2779-BAACC3D95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4BCBB-B9CB-48A8-938F-3E184151AC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345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chart" Target="../charts/chart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10" Type="http://schemas.openxmlformats.org/officeDocument/2006/relationships/image" Target="../media/image3.svg"/><Relationship Id="rId4" Type="http://schemas.openxmlformats.org/officeDocument/2006/relationships/image" Target="../media/image1.png"/><Relationship Id="rId9" Type="http://schemas.openxmlformats.org/officeDocument/2006/relationships/chart" Target="../charts/char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chart" Target="../charts/char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EF5DF-645F-5040-36FA-1BFA18FE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0A229F-FD43-38DC-A23D-78857FBCEF24}"/>
              </a:ext>
            </a:extLst>
          </p:cNvPr>
          <p:cNvSpPr/>
          <p:nvPr/>
        </p:nvSpPr>
        <p:spPr>
          <a:xfrm>
            <a:off x="0" y="993322"/>
            <a:ext cx="1219200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D8E516-42F8-C7CB-46AA-8B4F1F054FBE}"/>
              </a:ext>
            </a:extLst>
          </p:cNvPr>
          <p:cNvSpPr/>
          <p:nvPr/>
        </p:nvSpPr>
        <p:spPr>
          <a:xfrm>
            <a:off x="2695955" y="181795"/>
            <a:ext cx="6410325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P. Hansel – Progress Achievement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(BHT Study – Great Eastern)</a:t>
            </a:r>
            <a:endParaRPr lang="en-ID" sz="14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0BD4BF-74F2-81B1-1999-C1ACECFAAE68}"/>
              </a:ext>
            </a:extLst>
          </p:cNvPr>
          <p:cNvSpPr/>
          <p:nvPr/>
        </p:nvSpPr>
        <p:spPr>
          <a:xfrm>
            <a:off x="533400" y="1242057"/>
            <a:ext cx="2162555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TARGET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5F900F-4BA1-C20A-7A5D-7EB2A2E8A932}"/>
              </a:ext>
            </a:extLst>
          </p:cNvPr>
          <p:cNvSpPr/>
          <p:nvPr/>
        </p:nvSpPr>
        <p:spPr>
          <a:xfrm>
            <a:off x="2847975" y="1242057"/>
            <a:ext cx="2162555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ACHIEVEMENT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94B669-5012-CC6C-D72A-E317D1990460}"/>
              </a:ext>
            </a:extLst>
          </p:cNvPr>
          <p:cNvSpPr/>
          <p:nvPr/>
        </p:nvSpPr>
        <p:spPr>
          <a:xfrm>
            <a:off x="5142140" y="1242057"/>
            <a:ext cx="1988504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REMAINING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871B9A-09FE-BAA6-5BF7-0710A3F12349}"/>
              </a:ext>
            </a:extLst>
          </p:cNvPr>
          <p:cNvSpPr/>
          <p:nvPr/>
        </p:nvSpPr>
        <p:spPr>
          <a:xfrm>
            <a:off x="1909933" y="1253561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CBF1A4-3FC3-D9A9-963A-48156FA7EC81}"/>
              </a:ext>
            </a:extLst>
          </p:cNvPr>
          <p:cNvSpPr/>
          <p:nvPr/>
        </p:nvSpPr>
        <p:spPr>
          <a:xfrm>
            <a:off x="4333874" y="1264917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CCE242-BE3A-DBD4-617F-B3188FA15E3B}"/>
              </a:ext>
            </a:extLst>
          </p:cNvPr>
          <p:cNvSpPr/>
          <p:nvPr/>
        </p:nvSpPr>
        <p:spPr>
          <a:xfrm>
            <a:off x="6407301" y="1264917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F8C60BA-5467-7BA8-9BDB-EA7F1AECE02D}"/>
              </a:ext>
            </a:extLst>
          </p:cNvPr>
          <p:cNvSpPr/>
          <p:nvPr/>
        </p:nvSpPr>
        <p:spPr>
          <a:xfrm flipV="1">
            <a:off x="9015792" y="1525859"/>
            <a:ext cx="180975" cy="914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5ED44AB-8463-6D79-C90B-61D8EFE1091C}"/>
              </a:ext>
            </a:extLst>
          </p:cNvPr>
          <p:cNvSpPr/>
          <p:nvPr/>
        </p:nvSpPr>
        <p:spPr>
          <a:xfrm>
            <a:off x="533400" y="2306956"/>
            <a:ext cx="3179442" cy="1659258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8FEACA-EE66-35F3-EC67-5FB54A90BA21}"/>
              </a:ext>
            </a:extLst>
          </p:cNvPr>
          <p:cNvSpPr/>
          <p:nvPr/>
        </p:nvSpPr>
        <p:spPr>
          <a:xfrm>
            <a:off x="3936680" y="2306955"/>
            <a:ext cx="3749040" cy="1659258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433E3A-9D5D-A760-73FC-9C5CE55321F6}"/>
              </a:ext>
            </a:extLst>
          </p:cNvPr>
          <p:cNvSpPr/>
          <p:nvPr/>
        </p:nvSpPr>
        <p:spPr>
          <a:xfrm>
            <a:off x="3936680" y="4334728"/>
            <a:ext cx="3749040" cy="2023108"/>
          </a:xfrm>
          <a:prstGeom prst="roundRect">
            <a:avLst>
              <a:gd name="adj" fmla="val 17530"/>
            </a:avLst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FEA640-6E2C-4AED-4AAF-8CCC43C48F9F}"/>
              </a:ext>
            </a:extLst>
          </p:cNvPr>
          <p:cNvSpPr/>
          <p:nvPr/>
        </p:nvSpPr>
        <p:spPr>
          <a:xfrm>
            <a:off x="533399" y="4320544"/>
            <a:ext cx="3179441" cy="2023108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D720EB-6342-F430-AC6B-123608D83E07}"/>
              </a:ext>
            </a:extLst>
          </p:cNvPr>
          <p:cNvSpPr/>
          <p:nvPr/>
        </p:nvSpPr>
        <p:spPr>
          <a:xfrm>
            <a:off x="980593" y="2124073"/>
            <a:ext cx="2295525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Gender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B546C972-592E-A427-0B54-C6684D745B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497789"/>
              </p:ext>
            </p:extLst>
          </p:nvPr>
        </p:nvGraphicFramePr>
        <p:xfrm>
          <a:off x="980593" y="2449104"/>
          <a:ext cx="2324896" cy="1494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800A98BA-0E89-5ABF-7605-3191982431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047"/>
          <a:stretch/>
        </p:blipFill>
        <p:spPr>
          <a:xfrm>
            <a:off x="1027793" y="2837220"/>
            <a:ext cx="380047" cy="7315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E5222F3-EBF6-F493-E4D3-0E9637BE1B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688"/>
          <a:stretch/>
        </p:blipFill>
        <p:spPr>
          <a:xfrm>
            <a:off x="2878455" y="2697480"/>
            <a:ext cx="331470" cy="7315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DE6281C-AAA1-B61F-C3AF-98D34558352B}"/>
              </a:ext>
            </a:extLst>
          </p:cNvPr>
          <p:cNvSpPr/>
          <p:nvPr/>
        </p:nvSpPr>
        <p:spPr>
          <a:xfrm>
            <a:off x="4636767" y="2124073"/>
            <a:ext cx="2295525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Age Group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85B09C5-8599-5EAB-0EBD-28CE17B0C1EB}"/>
              </a:ext>
            </a:extLst>
          </p:cNvPr>
          <p:cNvSpPr/>
          <p:nvPr/>
        </p:nvSpPr>
        <p:spPr>
          <a:xfrm>
            <a:off x="4632639" y="4149090"/>
            <a:ext cx="2295525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Domicile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62B8508-53B9-D356-F60B-6C864C1911F4}"/>
              </a:ext>
            </a:extLst>
          </p:cNvPr>
          <p:cNvSpPr/>
          <p:nvPr/>
        </p:nvSpPr>
        <p:spPr>
          <a:xfrm>
            <a:off x="980593" y="4149090"/>
            <a:ext cx="2295525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SEC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670A02BC-2C64-D158-5E33-9B9F4D4B5A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9302168"/>
              </p:ext>
            </p:extLst>
          </p:nvPr>
        </p:nvGraphicFramePr>
        <p:xfrm>
          <a:off x="633884" y="4580288"/>
          <a:ext cx="2985616" cy="1673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7" name="Chart 46">
            <a:extLst>
              <a:ext uri="{FF2B5EF4-FFF2-40B4-BE49-F238E27FC236}">
                <a16:creationId xmlns:a16="http://schemas.microsoft.com/office/drawing/2014/main" id="{ABB4E7D2-023B-2BA4-D86F-12DDA80DC3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1797853"/>
              </p:ext>
            </p:extLst>
          </p:nvPr>
        </p:nvGraphicFramePr>
        <p:xfrm>
          <a:off x="4282757" y="2507827"/>
          <a:ext cx="3015381" cy="1440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50CCD7D-24EF-EAF8-7332-B9747AAE3DFD}"/>
              </a:ext>
            </a:extLst>
          </p:cNvPr>
          <p:cNvSpPr/>
          <p:nvPr/>
        </p:nvSpPr>
        <p:spPr>
          <a:xfrm>
            <a:off x="7910985" y="2304516"/>
            <a:ext cx="3749040" cy="1659258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2E29656-BE59-9CDF-84E7-48C3AC3A3FDF}"/>
              </a:ext>
            </a:extLst>
          </p:cNvPr>
          <p:cNvSpPr/>
          <p:nvPr/>
        </p:nvSpPr>
        <p:spPr>
          <a:xfrm>
            <a:off x="8611072" y="2121634"/>
            <a:ext cx="2295525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Marital Status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6" descr="Populix - Logo - Vector EZ">
            <a:extLst>
              <a:ext uri="{FF2B5EF4-FFF2-40B4-BE49-F238E27FC236}">
                <a16:creationId xmlns:a16="http://schemas.microsoft.com/office/drawing/2014/main" id="{8D93260F-9B0A-DC41-0420-7C513CFF2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93" y="315332"/>
            <a:ext cx="1324628" cy="35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651D7F-80B5-49DE-ED88-CE7888CD21BE}"/>
              </a:ext>
            </a:extLst>
          </p:cNvPr>
          <p:cNvSpPr txBox="1"/>
          <p:nvPr/>
        </p:nvSpPr>
        <p:spPr>
          <a:xfrm>
            <a:off x="2695955" y="3368260"/>
            <a:ext cx="837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Laki-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laki</a:t>
            </a:r>
            <a:endParaRPr lang="en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5F9645-2ABF-40CD-123A-879F785D7709}"/>
              </a:ext>
            </a:extLst>
          </p:cNvPr>
          <p:cNvSpPr txBox="1"/>
          <p:nvPr/>
        </p:nvSpPr>
        <p:spPr>
          <a:xfrm>
            <a:off x="664890" y="3600392"/>
            <a:ext cx="1113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Perempuan</a:t>
            </a:r>
            <a:endParaRPr lang="en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75A02BBE-868D-6A45-0834-DE1239B990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9775368"/>
              </p:ext>
            </p:extLst>
          </p:nvPr>
        </p:nvGraphicFramePr>
        <p:xfrm>
          <a:off x="4125686" y="4710960"/>
          <a:ext cx="3287485" cy="1440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D24E62CB-381F-1F7A-9C36-06767F2A5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0669523"/>
              </p:ext>
            </p:extLst>
          </p:nvPr>
        </p:nvGraphicFramePr>
        <p:xfrm>
          <a:off x="8290238" y="2487394"/>
          <a:ext cx="3234208" cy="147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19451A-484B-04EA-5021-1480D87105D6}"/>
              </a:ext>
            </a:extLst>
          </p:cNvPr>
          <p:cNvSpPr/>
          <p:nvPr/>
        </p:nvSpPr>
        <p:spPr>
          <a:xfrm>
            <a:off x="9474187" y="1242057"/>
            <a:ext cx="2045887" cy="66103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FILTER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8EF753AF-36D6-AB75-2321-847EA26FBBEE}"/>
              </a:ext>
            </a:extLst>
          </p:cNvPr>
          <p:cNvSpPr/>
          <p:nvPr/>
        </p:nvSpPr>
        <p:spPr>
          <a:xfrm flipV="1">
            <a:off x="11229173" y="1537363"/>
            <a:ext cx="180975" cy="914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4CC36B-D27F-3406-F203-B92C43FB3A1E}"/>
              </a:ext>
            </a:extLst>
          </p:cNvPr>
          <p:cNvSpPr txBox="1"/>
          <p:nvPr/>
        </p:nvSpPr>
        <p:spPr>
          <a:xfrm>
            <a:off x="4695661" y="4710960"/>
            <a:ext cx="204588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S1</a:t>
            </a:r>
            <a:endParaRPr lang="en-ID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D44A7A-4313-1AC3-D738-ADC74D71066D}"/>
              </a:ext>
            </a:extLst>
          </p:cNvPr>
          <p:cNvSpPr txBox="1"/>
          <p:nvPr/>
        </p:nvSpPr>
        <p:spPr>
          <a:xfrm>
            <a:off x="906581" y="2429780"/>
            <a:ext cx="204588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S3</a:t>
            </a:r>
            <a:endParaRPr lang="en-ID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0536C9-9981-BE03-0013-0D1E00F58D84}"/>
              </a:ext>
            </a:extLst>
          </p:cNvPr>
          <p:cNvSpPr txBox="1"/>
          <p:nvPr/>
        </p:nvSpPr>
        <p:spPr>
          <a:xfrm>
            <a:off x="802088" y="5027518"/>
            <a:ext cx="204588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S4</a:t>
            </a:r>
            <a:endParaRPr lang="en-ID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9BE936-1BD4-9DAB-857C-2A1896D0B4FE}"/>
              </a:ext>
            </a:extLst>
          </p:cNvPr>
          <p:cNvSpPr txBox="1"/>
          <p:nvPr/>
        </p:nvSpPr>
        <p:spPr>
          <a:xfrm>
            <a:off x="4516270" y="2487395"/>
            <a:ext cx="204588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S2b</a:t>
            </a:r>
            <a:endParaRPr lang="en-ID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815B8F-E4A8-FC96-1ABA-59FDBBEFAE19}"/>
              </a:ext>
            </a:extLst>
          </p:cNvPr>
          <p:cNvSpPr txBox="1"/>
          <p:nvPr/>
        </p:nvSpPr>
        <p:spPr>
          <a:xfrm>
            <a:off x="8668541" y="2752742"/>
            <a:ext cx="204588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S9</a:t>
            </a:r>
            <a:endParaRPr lang="en-ID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C88475-DEB8-A5F8-E9BB-5E6D6C2CAEB6}"/>
              </a:ext>
            </a:extLst>
          </p:cNvPr>
          <p:cNvSpPr txBox="1"/>
          <p:nvPr/>
        </p:nvSpPr>
        <p:spPr>
          <a:xfrm>
            <a:off x="11473077" y="1084762"/>
            <a:ext cx="2413244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Pasang filter </a:t>
            </a:r>
            <a:r>
              <a:rPr lang="en-US" dirty="0" err="1"/>
              <a:t>ke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ID" dirty="0"/>
              <a:t>S1 Domicile</a:t>
            </a:r>
          </a:p>
          <a:p>
            <a:pPr marL="285750" indent="-285750">
              <a:buFontTx/>
              <a:buChar char="-"/>
            </a:pPr>
            <a:r>
              <a:rPr lang="en-ID" dirty="0"/>
              <a:t>S2b Age Group</a:t>
            </a:r>
          </a:p>
          <a:p>
            <a:pPr marL="285750" indent="-285750">
              <a:buFontTx/>
              <a:buChar char="-"/>
            </a:pPr>
            <a:r>
              <a:rPr lang="en-ID" dirty="0"/>
              <a:t>S3 Gender</a:t>
            </a:r>
          </a:p>
          <a:p>
            <a:pPr marL="285750" indent="-285750">
              <a:buFontTx/>
              <a:buChar char="-"/>
            </a:pPr>
            <a:r>
              <a:rPr lang="en-ID" dirty="0"/>
              <a:t>S4 SEC</a:t>
            </a:r>
          </a:p>
          <a:p>
            <a:pPr marL="285750" indent="-285750">
              <a:buFontTx/>
              <a:buChar char="-"/>
            </a:pPr>
            <a:r>
              <a:rPr lang="en-ID" dirty="0"/>
              <a:t>S9 Marital Status</a:t>
            </a:r>
          </a:p>
          <a:p>
            <a:pPr marL="285750" indent="-285750">
              <a:buFontTx/>
              <a:buChar char="-"/>
            </a:pPr>
            <a:r>
              <a:rPr lang="en-ID" dirty="0"/>
              <a:t>QA4 Occupation</a:t>
            </a:r>
          </a:p>
          <a:p>
            <a:pPr marL="285750" indent="-285750">
              <a:buFontTx/>
              <a:buChar char="-"/>
            </a:pPr>
            <a:r>
              <a:rPr lang="en-ID" dirty="0"/>
              <a:t>QA2 Education</a:t>
            </a:r>
          </a:p>
          <a:p>
            <a:pPr marL="285750" indent="-285750">
              <a:buFontTx/>
              <a:buChar char="-"/>
            </a:pPr>
            <a:r>
              <a:rPr lang="en-ID" dirty="0"/>
              <a:t>SZ Segment Subgroups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DCE58C-48BF-1BAE-E08D-22172A6912F3}"/>
              </a:ext>
            </a:extLst>
          </p:cNvPr>
          <p:cNvSpPr txBox="1"/>
          <p:nvPr/>
        </p:nvSpPr>
        <p:spPr>
          <a:xfrm>
            <a:off x="387771" y="834475"/>
            <a:ext cx="204588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Set target 950</a:t>
            </a:r>
          </a:p>
          <a:p>
            <a:endParaRPr lang="en-I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CE1F7A-4567-FAFB-D0F5-5C2CBC8A0A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56425" y="206369"/>
            <a:ext cx="1663649" cy="63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45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44F41-E853-C146-E4A5-0DA37941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71910E04-06A5-B196-AA69-F4459F23CE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930376"/>
              </p:ext>
            </p:extLst>
          </p:nvPr>
        </p:nvGraphicFramePr>
        <p:xfrm>
          <a:off x="1007160" y="2487394"/>
          <a:ext cx="2877555" cy="2414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94CFB4B-8546-63EC-D344-88C076F6D538}"/>
              </a:ext>
            </a:extLst>
          </p:cNvPr>
          <p:cNvSpPr/>
          <p:nvPr/>
        </p:nvSpPr>
        <p:spPr>
          <a:xfrm>
            <a:off x="0" y="993322"/>
            <a:ext cx="1219200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9E1BC-F4C2-ADC4-1787-B619A133D2AD}"/>
              </a:ext>
            </a:extLst>
          </p:cNvPr>
          <p:cNvSpPr/>
          <p:nvPr/>
        </p:nvSpPr>
        <p:spPr>
          <a:xfrm>
            <a:off x="2695955" y="181795"/>
            <a:ext cx="6410325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P. Hansel – Progress Achievement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(BHT Study – Great Eastern)</a:t>
            </a:r>
            <a:endParaRPr lang="en-ID" sz="14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4AB167-61A4-5202-4D74-7934DB89008E}"/>
              </a:ext>
            </a:extLst>
          </p:cNvPr>
          <p:cNvSpPr/>
          <p:nvPr/>
        </p:nvSpPr>
        <p:spPr>
          <a:xfrm>
            <a:off x="533400" y="1242057"/>
            <a:ext cx="2162555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TARGET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CA864B-ABFF-3819-3A1D-B3DB6A43A9D2}"/>
              </a:ext>
            </a:extLst>
          </p:cNvPr>
          <p:cNvSpPr/>
          <p:nvPr/>
        </p:nvSpPr>
        <p:spPr>
          <a:xfrm>
            <a:off x="2847975" y="1242057"/>
            <a:ext cx="2162555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ACHIEVEMENT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DADFFA-9755-28EB-AB65-ED0DED4984AF}"/>
              </a:ext>
            </a:extLst>
          </p:cNvPr>
          <p:cNvSpPr/>
          <p:nvPr/>
        </p:nvSpPr>
        <p:spPr>
          <a:xfrm>
            <a:off x="5142140" y="1242057"/>
            <a:ext cx="1988504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REMAINING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CA058A-3257-F06F-7E8B-7ED73E2CA101}"/>
              </a:ext>
            </a:extLst>
          </p:cNvPr>
          <p:cNvSpPr/>
          <p:nvPr/>
        </p:nvSpPr>
        <p:spPr>
          <a:xfrm>
            <a:off x="1909933" y="1253561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284DEC-4ECA-7D00-EFD7-1F3E90893C6E}"/>
              </a:ext>
            </a:extLst>
          </p:cNvPr>
          <p:cNvSpPr/>
          <p:nvPr/>
        </p:nvSpPr>
        <p:spPr>
          <a:xfrm>
            <a:off x="4333874" y="1264917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86A473-4846-4067-6127-575027697E3A}"/>
              </a:ext>
            </a:extLst>
          </p:cNvPr>
          <p:cNvSpPr/>
          <p:nvPr/>
        </p:nvSpPr>
        <p:spPr>
          <a:xfrm>
            <a:off x="6407301" y="1264917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F410BA6-502E-A17A-89C8-58895BC654C9}"/>
              </a:ext>
            </a:extLst>
          </p:cNvPr>
          <p:cNvSpPr/>
          <p:nvPr/>
        </p:nvSpPr>
        <p:spPr>
          <a:xfrm flipV="1">
            <a:off x="9015792" y="1525859"/>
            <a:ext cx="180975" cy="914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70D235F-54E6-1108-2AD6-7D2277D04F60}"/>
              </a:ext>
            </a:extLst>
          </p:cNvPr>
          <p:cNvSpPr/>
          <p:nvPr/>
        </p:nvSpPr>
        <p:spPr>
          <a:xfrm>
            <a:off x="7910985" y="2304515"/>
            <a:ext cx="3749040" cy="4053321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FCD1FAC-6972-000F-08C2-BCA1B0A15DC8}"/>
              </a:ext>
            </a:extLst>
          </p:cNvPr>
          <p:cNvSpPr/>
          <p:nvPr/>
        </p:nvSpPr>
        <p:spPr>
          <a:xfrm>
            <a:off x="8611072" y="2121634"/>
            <a:ext cx="2295525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Education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6" descr="Populix - Logo - Vector EZ">
            <a:extLst>
              <a:ext uri="{FF2B5EF4-FFF2-40B4-BE49-F238E27FC236}">
                <a16:creationId xmlns:a16="http://schemas.microsoft.com/office/drawing/2014/main" id="{D765E6E6-D6D8-773C-5DB9-C49EA3F8C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93" y="315332"/>
            <a:ext cx="1324628" cy="35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AC21708C-6138-7C2A-5566-EBE67416FF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0547555"/>
              </p:ext>
            </p:extLst>
          </p:nvPr>
        </p:nvGraphicFramePr>
        <p:xfrm>
          <a:off x="8290238" y="2487394"/>
          <a:ext cx="3234208" cy="2414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F92FF4E-FA52-1E68-A00B-50756B8F7404}"/>
              </a:ext>
            </a:extLst>
          </p:cNvPr>
          <p:cNvSpPr/>
          <p:nvPr/>
        </p:nvSpPr>
        <p:spPr>
          <a:xfrm>
            <a:off x="9474187" y="1242057"/>
            <a:ext cx="2045887" cy="66103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FILTER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2880788A-90F7-BD81-4EE2-6F02C45073B7}"/>
              </a:ext>
            </a:extLst>
          </p:cNvPr>
          <p:cNvSpPr/>
          <p:nvPr/>
        </p:nvSpPr>
        <p:spPr>
          <a:xfrm flipV="1">
            <a:off x="11229173" y="1537363"/>
            <a:ext cx="180975" cy="914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7FA4C1-9B8B-04F2-27D1-C4263C1CABF9}"/>
              </a:ext>
            </a:extLst>
          </p:cNvPr>
          <p:cNvSpPr txBox="1"/>
          <p:nvPr/>
        </p:nvSpPr>
        <p:spPr>
          <a:xfrm>
            <a:off x="8668541" y="2752742"/>
            <a:ext cx="204588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QA2</a:t>
            </a:r>
            <a:endParaRPr lang="en-ID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061F52-600B-A45E-48AC-07BFC7B05696}"/>
              </a:ext>
            </a:extLst>
          </p:cNvPr>
          <p:cNvSpPr txBox="1"/>
          <p:nvPr/>
        </p:nvSpPr>
        <p:spPr>
          <a:xfrm>
            <a:off x="11473077" y="1084762"/>
            <a:ext cx="2413244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Pasang filter </a:t>
            </a:r>
            <a:r>
              <a:rPr lang="en-US" dirty="0" err="1"/>
              <a:t>ke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ID" dirty="0"/>
              <a:t>S1 Domicile</a:t>
            </a:r>
          </a:p>
          <a:p>
            <a:pPr marL="285750" indent="-285750">
              <a:buFontTx/>
              <a:buChar char="-"/>
            </a:pPr>
            <a:r>
              <a:rPr lang="en-ID" dirty="0"/>
              <a:t>S2b Age Group</a:t>
            </a:r>
          </a:p>
          <a:p>
            <a:pPr marL="285750" indent="-285750">
              <a:buFontTx/>
              <a:buChar char="-"/>
            </a:pPr>
            <a:r>
              <a:rPr lang="en-ID" dirty="0"/>
              <a:t>S3 Gender</a:t>
            </a:r>
          </a:p>
          <a:p>
            <a:pPr marL="285750" indent="-285750">
              <a:buFontTx/>
              <a:buChar char="-"/>
            </a:pPr>
            <a:r>
              <a:rPr lang="en-ID" dirty="0"/>
              <a:t>S4 SEC</a:t>
            </a:r>
          </a:p>
          <a:p>
            <a:pPr marL="285750" indent="-285750">
              <a:buFontTx/>
              <a:buChar char="-"/>
            </a:pPr>
            <a:r>
              <a:rPr lang="en-ID" dirty="0"/>
              <a:t>S9 Marital Status</a:t>
            </a:r>
          </a:p>
          <a:p>
            <a:pPr marL="285750" indent="-285750">
              <a:buFontTx/>
              <a:buChar char="-"/>
            </a:pPr>
            <a:r>
              <a:rPr lang="en-ID" dirty="0"/>
              <a:t>QA4 Occupation</a:t>
            </a:r>
          </a:p>
          <a:p>
            <a:pPr marL="285750" indent="-285750">
              <a:buFontTx/>
              <a:buChar char="-"/>
            </a:pPr>
            <a:r>
              <a:rPr lang="en-ID" dirty="0"/>
              <a:t>QA2 Education</a:t>
            </a:r>
          </a:p>
          <a:p>
            <a:pPr marL="285750" indent="-285750">
              <a:buFontTx/>
              <a:buChar char="-"/>
            </a:pPr>
            <a:r>
              <a:rPr lang="en-ID" dirty="0"/>
              <a:t>SZ Segment Subgroups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2A6A9C-149F-A94C-247F-5875D7335CFB}"/>
              </a:ext>
            </a:extLst>
          </p:cNvPr>
          <p:cNvSpPr txBox="1"/>
          <p:nvPr/>
        </p:nvSpPr>
        <p:spPr>
          <a:xfrm>
            <a:off x="387771" y="834475"/>
            <a:ext cx="204588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Set target 950</a:t>
            </a:r>
          </a:p>
          <a:p>
            <a:endParaRPr lang="en-I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E165CF-EF0D-9140-24F6-6C8E2F456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6425" y="206369"/>
            <a:ext cx="1663649" cy="63986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307FE23-8EF6-2451-7CB4-11145BAF3740}"/>
              </a:ext>
            </a:extLst>
          </p:cNvPr>
          <p:cNvSpPr/>
          <p:nvPr/>
        </p:nvSpPr>
        <p:spPr>
          <a:xfrm>
            <a:off x="4461250" y="2304515"/>
            <a:ext cx="3335614" cy="4053321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1BAD42-7145-8BB7-43AB-F1FAE396FB90}"/>
              </a:ext>
            </a:extLst>
          </p:cNvPr>
          <p:cNvSpPr/>
          <p:nvPr/>
        </p:nvSpPr>
        <p:spPr>
          <a:xfrm>
            <a:off x="5195195" y="2121634"/>
            <a:ext cx="2042386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Occupation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FBE43937-5EDF-C876-DEE3-FA78FD1F89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930376"/>
              </p:ext>
            </p:extLst>
          </p:nvPr>
        </p:nvGraphicFramePr>
        <p:xfrm>
          <a:off x="4783729" y="2487394"/>
          <a:ext cx="2877555" cy="2414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D1A774F2-C499-B4AE-7550-5B2332ECC484}"/>
              </a:ext>
            </a:extLst>
          </p:cNvPr>
          <p:cNvSpPr txBox="1"/>
          <p:nvPr/>
        </p:nvSpPr>
        <p:spPr>
          <a:xfrm>
            <a:off x="5030991" y="2752742"/>
            <a:ext cx="182027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QA4</a:t>
            </a:r>
            <a:endParaRPr lang="en-ID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9425B7F-190A-3EE4-571A-0451E89CD157}"/>
              </a:ext>
            </a:extLst>
          </p:cNvPr>
          <p:cNvSpPr/>
          <p:nvPr/>
        </p:nvSpPr>
        <p:spPr>
          <a:xfrm>
            <a:off x="598089" y="2304515"/>
            <a:ext cx="3749040" cy="4053321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58E462A-1239-F39D-38C9-F2EF531EC66A}"/>
              </a:ext>
            </a:extLst>
          </p:cNvPr>
          <p:cNvSpPr/>
          <p:nvPr/>
        </p:nvSpPr>
        <p:spPr>
          <a:xfrm>
            <a:off x="1298176" y="2121634"/>
            <a:ext cx="2295525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Segment Subgroups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338677-160E-4B44-0032-91C48F17ACB6}"/>
              </a:ext>
            </a:extLst>
          </p:cNvPr>
          <p:cNvSpPr txBox="1"/>
          <p:nvPr/>
        </p:nvSpPr>
        <p:spPr>
          <a:xfrm>
            <a:off x="1355645" y="2752742"/>
            <a:ext cx="204588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SZ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5227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9F67-4D3E-D97A-8D69-B3B5DBC23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3EC7BB25-3657-9BD8-1F29-813FF396695F}"/>
              </a:ext>
            </a:extLst>
          </p:cNvPr>
          <p:cNvGraphicFramePr/>
          <p:nvPr/>
        </p:nvGraphicFramePr>
        <p:xfrm>
          <a:off x="1007160" y="2487394"/>
          <a:ext cx="2877555" cy="2414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D2A3036-C6DE-D96B-13A5-3C43F433959A}"/>
              </a:ext>
            </a:extLst>
          </p:cNvPr>
          <p:cNvSpPr/>
          <p:nvPr/>
        </p:nvSpPr>
        <p:spPr>
          <a:xfrm>
            <a:off x="0" y="993322"/>
            <a:ext cx="1219200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0DDD1F-AAD2-01BF-DB8C-309152353EB7}"/>
              </a:ext>
            </a:extLst>
          </p:cNvPr>
          <p:cNvSpPr/>
          <p:nvPr/>
        </p:nvSpPr>
        <p:spPr>
          <a:xfrm>
            <a:off x="2695955" y="181795"/>
            <a:ext cx="6410325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P. Hansel – Progress Achievement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(BHT Study – Great Eastern)</a:t>
            </a:r>
            <a:endParaRPr lang="en-ID" sz="14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20A783-C460-4594-0297-BB9887772A32}"/>
              </a:ext>
            </a:extLst>
          </p:cNvPr>
          <p:cNvSpPr/>
          <p:nvPr/>
        </p:nvSpPr>
        <p:spPr>
          <a:xfrm>
            <a:off x="533400" y="1242057"/>
            <a:ext cx="2162555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TARGET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5B7FB2-E97E-3332-3723-A1BA9B53BAA9}"/>
              </a:ext>
            </a:extLst>
          </p:cNvPr>
          <p:cNvSpPr/>
          <p:nvPr/>
        </p:nvSpPr>
        <p:spPr>
          <a:xfrm>
            <a:off x="2847975" y="1242057"/>
            <a:ext cx="2162555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ACHIEVEMENT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948322-8F13-7812-EAF5-A2B767363BCF}"/>
              </a:ext>
            </a:extLst>
          </p:cNvPr>
          <p:cNvSpPr/>
          <p:nvPr/>
        </p:nvSpPr>
        <p:spPr>
          <a:xfrm>
            <a:off x="5142140" y="1242057"/>
            <a:ext cx="1988504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REMAINING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081176-37E1-59C5-942E-250E9EB38E18}"/>
              </a:ext>
            </a:extLst>
          </p:cNvPr>
          <p:cNvSpPr/>
          <p:nvPr/>
        </p:nvSpPr>
        <p:spPr>
          <a:xfrm>
            <a:off x="1909933" y="1253561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5796AE-1673-63E0-F1CF-B994F80D26C0}"/>
              </a:ext>
            </a:extLst>
          </p:cNvPr>
          <p:cNvSpPr/>
          <p:nvPr/>
        </p:nvSpPr>
        <p:spPr>
          <a:xfrm>
            <a:off x="4333874" y="1264917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294C1A-A73B-63C6-72F2-97AF736DF0EC}"/>
              </a:ext>
            </a:extLst>
          </p:cNvPr>
          <p:cNvSpPr/>
          <p:nvPr/>
        </p:nvSpPr>
        <p:spPr>
          <a:xfrm>
            <a:off x="6407301" y="1264917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79BF020-8850-77FD-7804-777FB630A1D2}"/>
              </a:ext>
            </a:extLst>
          </p:cNvPr>
          <p:cNvSpPr/>
          <p:nvPr/>
        </p:nvSpPr>
        <p:spPr>
          <a:xfrm flipV="1">
            <a:off x="9015792" y="1525859"/>
            <a:ext cx="180975" cy="914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6" descr="Populix - Logo - Vector EZ">
            <a:extLst>
              <a:ext uri="{FF2B5EF4-FFF2-40B4-BE49-F238E27FC236}">
                <a16:creationId xmlns:a16="http://schemas.microsoft.com/office/drawing/2014/main" id="{4E07EFDE-7E88-0506-CAE0-3BE8EF273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93" y="315332"/>
            <a:ext cx="1324628" cy="35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85564C8-EF32-8B14-9A3E-C117B2D4DE7B}"/>
              </a:ext>
            </a:extLst>
          </p:cNvPr>
          <p:cNvSpPr/>
          <p:nvPr/>
        </p:nvSpPr>
        <p:spPr>
          <a:xfrm>
            <a:off x="9474187" y="1242057"/>
            <a:ext cx="2045887" cy="66103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FILTER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574D5148-8E53-5B37-BC1A-4780CFF1369A}"/>
              </a:ext>
            </a:extLst>
          </p:cNvPr>
          <p:cNvSpPr/>
          <p:nvPr/>
        </p:nvSpPr>
        <p:spPr>
          <a:xfrm flipV="1">
            <a:off x="11229173" y="1537363"/>
            <a:ext cx="180975" cy="914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298DF4-BEF6-7D13-43BC-2B68CC8FE556}"/>
              </a:ext>
            </a:extLst>
          </p:cNvPr>
          <p:cNvSpPr txBox="1"/>
          <p:nvPr/>
        </p:nvSpPr>
        <p:spPr>
          <a:xfrm>
            <a:off x="11473077" y="1084762"/>
            <a:ext cx="2413244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Pasang filter </a:t>
            </a:r>
            <a:r>
              <a:rPr lang="en-US" dirty="0" err="1"/>
              <a:t>ke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ID" dirty="0"/>
              <a:t>S1 Domicile</a:t>
            </a:r>
          </a:p>
          <a:p>
            <a:pPr marL="285750" indent="-285750">
              <a:buFontTx/>
              <a:buChar char="-"/>
            </a:pPr>
            <a:r>
              <a:rPr lang="en-ID" dirty="0"/>
              <a:t>S2b Age Group</a:t>
            </a:r>
          </a:p>
          <a:p>
            <a:pPr marL="285750" indent="-285750">
              <a:buFontTx/>
              <a:buChar char="-"/>
            </a:pPr>
            <a:r>
              <a:rPr lang="en-ID" dirty="0"/>
              <a:t>S3 Gender</a:t>
            </a:r>
          </a:p>
          <a:p>
            <a:pPr marL="285750" indent="-285750">
              <a:buFontTx/>
              <a:buChar char="-"/>
            </a:pPr>
            <a:r>
              <a:rPr lang="en-ID" dirty="0"/>
              <a:t>S4 SEC</a:t>
            </a:r>
          </a:p>
          <a:p>
            <a:pPr marL="285750" indent="-285750">
              <a:buFontTx/>
              <a:buChar char="-"/>
            </a:pPr>
            <a:r>
              <a:rPr lang="en-ID" dirty="0"/>
              <a:t>S9 Marital Status</a:t>
            </a:r>
          </a:p>
          <a:p>
            <a:pPr marL="285750" indent="-285750">
              <a:buFontTx/>
              <a:buChar char="-"/>
            </a:pPr>
            <a:r>
              <a:rPr lang="en-ID" dirty="0"/>
              <a:t>QA4 Occupation</a:t>
            </a:r>
          </a:p>
          <a:p>
            <a:pPr marL="285750" indent="-285750">
              <a:buFontTx/>
              <a:buChar char="-"/>
            </a:pPr>
            <a:r>
              <a:rPr lang="en-ID" dirty="0"/>
              <a:t>QA2 Education</a:t>
            </a:r>
          </a:p>
          <a:p>
            <a:pPr marL="285750" indent="-285750">
              <a:buFontTx/>
              <a:buChar char="-"/>
            </a:pPr>
            <a:r>
              <a:rPr lang="en-ID" dirty="0"/>
              <a:t>SZ Segment Subgroups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8D0EF7-1F35-7880-89A7-CA1AD0F833A3}"/>
              </a:ext>
            </a:extLst>
          </p:cNvPr>
          <p:cNvSpPr txBox="1"/>
          <p:nvPr/>
        </p:nvSpPr>
        <p:spPr>
          <a:xfrm>
            <a:off x="387771" y="834475"/>
            <a:ext cx="204588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Set target 950</a:t>
            </a:r>
          </a:p>
          <a:p>
            <a:endParaRPr lang="en-I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2D8D1EF-AEAA-9044-E26F-85F3C316BD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6425" y="206369"/>
            <a:ext cx="1663649" cy="63986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D0AC1B-DB09-22FA-5BC3-026905C7CBA2}"/>
              </a:ext>
            </a:extLst>
          </p:cNvPr>
          <p:cNvSpPr/>
          <p:nvPr/>
        </p:nvSpPr>
        <p:spPr>
          <a:xfrm>
            <a:off x="4461250" y="2304515"/>
            <a:ext cx="3335614" cy="4053321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4051F0-FE0B-2EF6-C9C7-9D062B29DC03}"/>
              </a:ext>
            </a:extLst>
          </p:cNvPr>
          <p:cNvSpPr/>
          <p:nvPr/>
        </p:nvSpPr>
        <p:spPr>
          <a:xfrm>
            <a:off x="5195195" y="2121634"/>
            <a:ext cx="2042386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Current Used Brand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96C8DAD-C107-1E68-2ECC-EE163FED22C6}"/>
              </a:ext>
            </a:extLst>
          </p:cNvPr>
          <p:cNvGraphicFramePr/>
          <p:nvPr/>
        </p:nvGraphicFramePr>
        <p:xfrm>
          <a:off x="4783729" y="2487394"/>
          <a:ext cx="2877555" cy="2414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5EB07E2-43C5-05B5-D235-3FEC78B8A4B5}"/>
              </a:ext>
            </a:extLst>
          </p:cNvPr>
          <p:cNvSpPr txBox="1"/>
          <p:nvPr/>
        </p:nvSpPr>
        <p:spPr>
          <a:xfrm>
            <a:off x="5030991" y="2752742"/>
            <a:ext cx="182027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CX</a:t>
            </a:r>
            <a:endParaRPr lang="en-ID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2ED92C-67B2-B916-C717-750E73112ABF}"/>
              </a:ext>
            </a:extLst>
          </p:cNvPr>
          <p:cNvSpPr/>
          <p:nvPr/>
        </p:nvSpPr>
        <p:spPr>
          <a:xfrm>
            <a:off x="598089" y="2304515"/>
            <a:ext cx="3749040" cy="4053321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400ACE6-536F-8D42-4287-856F3572A7F8}"/>
              </a:ext>
            </a:extLst>
          </p:cNvPr>
          <p:cNvSpPr/>
          <p:nvPr/>
        </p:nvSpPr>
        <p:spPr>
          <a:xfrm>
            <a:off x="1298176" y="2121634"/>
            <a:ext cx="2295525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Insurance Type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34D334-461F-C273-0DF7-69D8846E24A5}"/>
              </a:ext>
            </a:extLst>
          </p:cNvPr>
          <p:cNvSpPr txBox="1"/>
          <p:nvPr/>
        </p:nvSpPr>
        <p:spPr>
          <a:xfrm>
            <a:off x="1355645" y="2752742"/>
            <a:ext cx="204588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CO2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40794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20A6C-70BE-9224-F7C1-01569F85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DC5BD492-8BC7-8302-989D-C09C1F551426}"/>
              </a:ext>
            </a:extLst>
          </p:cNvPr>
          <p:cNvGraphicFramePr/>
          <p:nvPr/>
        </p:nvGraphicFramePr>
        <p:xfrm>
          <a:off x="1007160" y="2487394"/>
          <a:ext cx="2877555" cy="2414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DD78421-A1AB-FCA2-A95F-6259DBBF015D}"/>
              </a:ext>
            </a:extLst>
          </p:cNvPr>
          <p:cNvSpPr/>
          <p:nvPr/>
        </p:nvSpPr>
        <p:spPr>
          <a:xfrm>
            <a:off x="0" y="993322"/>
            <a:ext cx="1219200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F9F273-D4B8-8BB5-E7CE-D54BF486AE91}"/>
              </a:ext>
            </a:extLst>
          </p:cNvPr>
          <p:cNvSpPr/>
          <p:nvPr/>
        </p:nvSpPr>
        <p:spPr>
          <a:xfrm>
            <a:off x="2695955" y="181795"/>
            <a:ext cx="6410325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P. Hansel – Progress Achievement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(BHT Study – Great Eastern)</a:t>
            </a:r>
            <a:endParaRPr lang="en-ID" sz="14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8DB386-ABAB-BE1F-9978-03B3A9632CCB}"/>
              </a:ext>
            </a:extLst>
          </p:cNvPr>
          <p:cNvSpPr/>
          <p:nvPr/>
        </p:nvSpPr>
        <p:spPr>
          <a:xfrm>
            <a:off x="533400" y="1242057"/>
            <a:ext cx="2162555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TARGET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0CF392-066C-6209-5704-43D14C6456C6}"/>
              </a:ext>
            </a:extLst>
          </p:cNvPr>
          <p:cNvSpPr/>
          <p:nvPr/>
        </p:nvSpPr>
        <p:spPr>
          <a:xfrm>
            <a:off x="2847975" y="1242057"/>
            <a:ext cx="2162555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ACHIEVEMENT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A0A4FD-24C7-469A-7FF3-D27432AECA21}"/>
              </a:ext>
            </a:extLst>
          </p:cNvPr>
          <p:cNvSpPr/>
          <p:nvPr/>
        </p:nvSpPr>
        <p:spPr>
          <a:xfrm>
            <a:off x="5142140" y="1242057"/>
            <a:ext cx="1988504" cy="6610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REMAINING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827BF6-77F8-F2D1-0B9D-CD05532C849B}"/>
              </a:ext>
            </a:extLst>
          </p:cNvPr>
          <p:cNvSpPr/>
          <p:nvPr/>
        </p:nvSpPr>
        <p:spPr>
          <a:xfrm>
            <a:off x="1909933" y="1253561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6B57F4-CFAC-8EDA-9B0D-F7547A84DE2A}"/>
              </a:ext>
            </a:extLst>
          </p:cNvPr>
          <p:cNvSpPr/>
          <p:nvPr/>
        </p:nvSpPr>
        <p:spPr>
          <a:xfrm>
            <a:off x="4333874" y="1264917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220BAF-8DF0-88C4-EA9A-4300101DD0E7}"/>
              </a:ext>
            </a:extLst>
          </p:cNvPr>
          <p:cNvSpPr/>
          <p:nvPr/>
        </p:nvSpPr>
        <p:spPr>
          <a:xfrm>
            <a:off x="6407301" y="1264917"/>
            <a:ext cx="790576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</a:t>
            </a:r>
            <a:endParaRPr lang="en-ID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109258B-E43D-3ED6-4AEA-FBFE15882116}"/>
              </a:ext>
            </a:extLst>
          </p:cNvPr>
          <p:cNvSpPr/>
          <p:nvPr/>
        </p:nvSpPr>
        <p:spPr>
          <a:xfrm flipV="1">
            <a:off x="9015792" y="1525859"/>
            <a:ext cx="180975" cy="914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6" descr="Populix - Logo - Vector EZ">
            <a:extLst>
              <a:ext uri="{FF2B5EF4-FFF2-40B4-BE49-F238E27FC236}">
                <a16:creationId xmlns:a16="http://schemas.microsoft.com/office/drawing/2014/main" id="{F92EF7C7-377D-AE98-34BE-98F9F4EF3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93" y="315332"/>
            <a:ext cx="1324628" cy="35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65D8C47-9904-E99B-14F1-2E74CB4D148D}"/>
              </a:ext>
            </a:extLst>
          </p:cNvPr>
          <p:cNvSpPr/>
          <p:nvPr/>
        </p:nvSpPr>
        <p:spPr>
          <a:xfrm>
            <a:off x="9474187" y="1242057"/>
            <a:ext cx="2045887" cy="66103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FILTER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413D40F7-3C57-6DDA-504E-B1A5E1CB278B}"/>
              </a:ext>
            </a:extLst>
          </p:cNvPr>
          <p:cNvSpPr/>
          <p:nvPr/>
        </p:nvSpPr>
        <p:spPr>
          <a:xfrm flipV="1">
            <a:off x="11229173" y="1537363"/>
            <a:ext cx="180975" cy="914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9CA11B-A5B4-74C8-7907-B88AA1E4EB66}"/>
              </a:ext>
            </a:extLst>
          </p:cNvPr>
          <p:cNvSpPr txBox="1"/>
          <p:nvPr/>
        </p:nvSpPr>
        <p:spPr>
          <a:xfrm>
            <a:off x="11473077" y="1084762"/>
            <a:ext cx="2413244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Pasang filter </a:t>
            </a:r>
            <a:r>
              <a:rPr lang="en-US" dirty="0" err="1"/>
              <a:t>ke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ID" dirty="0"/>
              <a:t>S1 Domicile</a:t>
            </a:r>
          </a:p>
          <a:p>
            <a:pPr marL="285750" indent="-285750">
              <a:buFontTx/>
              <a:buChar char="-"/>
            </a:pPr>
            <a:r>
              <a:rPr lang="en-ID" dirty="0"/>
              <a:t>S2b Age Group</a:t>
            </a:r>
          </a:p>
          <a:p>
            <a:pPr marL="285750" indent="-285750">
              <a:buFontTx/>
              <a:buChar char="-"/>
            </a:pPr>
            <a:r>
              <a:rPr lang="en-ID" dirty="0"/>
              <a:t>S3 Gender</a:t>
            </a:r>
          </a:p>
          <a:p>
            <a:pPr marL="285750" indent="-285750">
              <a:buFontTx/>
              <a:buChar char="-"/>
            </a:pPr>
            <a:r>
              <a:rPr lang="en-ID" dirty="0"/>
              <a:t>S4 SEC</a:t>
            </a:r>
          </a:p>
          <a:p>
            <a:pPr marL="285750" indent="-285750">
              <a:buFontTx/>
              <a:buChar char="-"/>
            </a:pPr>
            <a:r>
              <a:rPr lang="en-ID" dirty="0"/>
              <a:t>S9 Marital Status</a:t>
            </a:r>
          </a:p>
          <a:p>
            <a:pPr marL="285750" indent="-285750">
              <a:buFontTx/>
              <a:buChar char="-"/>
            </a:pPr>
            <a:r>
              <a:rPr lang="en-ID" dirty="0"/>
              <a:t>QA4 Occupation</a:t>
            </a:r>
          </a:p>
          <a:p>
            <a:pPr marL="285750" indent="-285750">
              <a:buFontTx/>
              <a:buChar char="-"/>
            </a:pPr>
            <a:r>
              <a:rPr lang="en-ID" dirty="0"/>
              <a:t>QA2 Education</a:t>
            </a:r>
          </a:p>
          <a:p>
            <a:pPr marL="285750" indent="-285750">
              <a:buFontTx/>
              <a:buChar char="-"/>
            </a:pPr>
            <a:r>
              <a:rPr lang="en-ID" dirty="0"/>
              <a:t>SZ Segment Subgroups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023D54-E728-F7DC-FD61-E477131B3800}"/>
              </a:ext>
            </a:extLst>
          </p:cNvPr>
          <p:cNvSpPr txBox="1"/>
          <p:nvPr/>
        </p:nvSpPr>
        <p:spPr>
          <a:xfrm>
            <a:off x="387771" y="834475"/>
            <a:ext cx="204588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Set target 950</a:t>
            </a:r>
          </a:p>
          <a:p>
            <a:endParaRPr lang="en-I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4409A9A-4F41-F746-88A7-1911A61FD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6425" y="206369"/>
            <a:ext cx="1663649" cy="63986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B43BEB-2399-0FA0-CDBB-AD7B463896AB}"/>
              </a:ext>
            </a:extLst>
          </p:cNvPr>
          <p:cNvSpPr/>
          <p:nvPr/>
        </p:nvSpPr>
        <p:spPr>
          <a:xfrm>
            <a:off x="4461250" y="2304515"/>
            <a:ext cx="3335614" cy="4053321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155BADF-58B5-500C-DF88-06928209E66A}"/>
              </a:ext>
            </a:extLst>
          </p:cNvPr>
          <p:cNvSpPr/>
          <p:nvPr/>
        </p:nvSpPr>
        <p:spPr>
          <a:xfrm>
            <a:off x="5195195" y="2121634"/>
            <a:ext cx="2042386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Source Of Influence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E3124BBF-4A27-F939-6A46-E46F3FA0068E}"/>
              </a:ext>
            </a:extLst>
          </p:cNvPr>
          <p:cNvGraphicFramePr/>
          <p:nvPr/>
        </p:nvGraphicFramePr>
        <p:xfrm>
          <a:off x="4783729" y="2487394"/>
          <a:ext cx="2877555" cy="2414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8EE221E-C836-F267-531C-1BE8C85BC5DB}"/>
              </a:ext>
            </a:extLst>
          </p:cNvPr>
          <p:cNvSpPr txBox="1"/>
          <p:nvPr/>
        </p:nvSpPr>
        <p:spPr>
          <a:xfrm>
            <a:off x="5030991" y="2752742"/>
            <a:ext cx="182027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SOI</a:t>
            </a:r>
            <a:endParaRPr lang="en-ID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7DCB0E5-F2F9-9A16-FA1E-6C511EA5CFBE}"/>
              </a:ext>
            </a:extLst>
          </p:cNvPr>
          <p:cNvSpPr/>
          <p:nvPr/>
        </p:nvSpPr>
        <p:spPr>
          <a:xfrm>
            <a:off x="598089" y="2304515"/>
            <a:ext cx="3749040" cy="4053321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80C3038-1459-C6E6-4676-90D456834E20}"/>
              </a:ext>
            </a:extLst>
          </p:cNvPr>
          <p:cNvSpPr/>
          <p:nvPr/>
        </p:nvSpPr>
        <p:spPr>
          <a:xfrm>
            <a:off x="1298176" y="2121634"/>
            <a:ext cx="2295525" cy="365761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Source Of Awareness</a:t>
            </a:r>
            <a:endParaRPr lang="en-ID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FB93CB-C8F3-DB8E-9A1B-397E4EF71EA9}"/>
              </a:ext>
            </a:extLst>
          </p:cNvPr>
          <p:cNvSpPr txBox="1"/>
          <p:nvPr/>
        </p:nvSpPr>
        <p:spPr>
          <a:xfrm>
            <a:off x="1355645" y="2752742"/>
            <a:ext cx="204588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Note :</a:t>
            </a:r>
          </a:p>
          <a:p>
            <a:r>
              <a:rPr lang="en-US" dirty="0"/>
              <a:t>SOA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0996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260</Words>
  <Application>Microsoft Office PowerPoint</Application>
  <PresentationFormat>Widescreen</PresentationFormat>
  <Paragraphs>126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Aisyha Nabilla</dc:creator>
  <cp:lastModifiedBy>Rahardiansyah Fatoni</cp:lastModifiedBy>
  <cp:revision>29</cp:revision>
  <dcterms:created xsi:type="dcterms:W3CDTF">2025-05-26T05:01:39Z</dcterms:created>
  <dcterms:modified xsi:type="dcterms:W3CDTF">2026-07-14T10:32:27Z</dcterms:modified>
</cp:coreProperties>
</file>